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9" r:id="rId14"/>
    <p:sldId id="273" r:id="rId15"/>
    <p:sldId id="274" r:id="rId16"/>
    <p:sldId id="267" r:id="rId17"/>
    <p:sldId id="271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2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8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90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93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8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7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6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5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6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2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E8621-5F02-40FC-B30D-ED8773C56327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67D0C-BA97-4651-BBAD-F982C0EAB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4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Principle of Software Testing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Ha Nguyen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31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67265" cy="6672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68202"/>
            <a:ext cx="696098" cy="6960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33" y="3684975"/>
            <a:ext cx="562232" cy="6568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6654" y="1810113"/>
            <a:ext cx="4399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Software Development Lifecycles and Testing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696654" y="2831585"/>
            <a:ext cx="2674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Software Testing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6654" y="3699200"/>
            <a:ext cx="389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Manual Testing and Automation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50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Development Lifecycles and Testing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1632636"/>
            <a:ext cx="648329" cy="6327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0605" y="1793380"/>
            <a:ext cx="4399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Software Development Lifecycles and Testing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2518204"/>
            <a:ext cx="648329" cy="6327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0605" y="2649922"/>
            <a:ext cx="1704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Waterfall Model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3403772"/>
            <a:ext cx="648329" cy="6327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60605" y="3506464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Scru</a:t>
            </a:r>
            <a:r>
              <a:rPr lang="en-US" dirty="0"/>
              <a:t>m</a:t>
            </a:r>
            <a:r>
              <a:rPr lang="en-US" dirty="0" smtClean="0"/>
              <a:t> Model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4314054"/>
            <a:ext cx="648329" cy="6327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60605" y="4416746"/>
            <a:ext cx="3027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Testing Phases and Milestones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99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 smtClean="0"/>
              <a:t>Software Development Lifecycles and Testing</a:t>
            </a:r>
            <a:endParaRPr lang="en-US" sz="3500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1720601"/>
            <a:ext cx="91569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How testing is directly affected by the Software Development Lifecycles choice:</a:t>
            </a:r>
            <a:endParaRPr lang="en-US" sz="2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2518204"/>
            <a:ext cx="648329" cy="6327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0605" y="2649922"/>
            <a:ext cx="4067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Documentation availability to test against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8" y="3276686"/>
            <a:ext cx="648329" cy="6327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60605" y="3512235"/>
            <a:ext cx="130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to test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7" y="4044179"/>
            <a:ext cx="648329" cy="6327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60605" y="4307616"/>
            <a:ext cx="4956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 to automate or produce effective automation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00" y="4811672"/>
            <a:ext cx="648329" cy="6327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0605" y="5063438"/>
            <a:ext cx="6659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Knowledge and understanding of the application as we plan our tests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00" y="5537203"/>
            <a:ext cx="648329" cy="6327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0605" y="5780644"/>
            <a:ext cx="290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Amount of regression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9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 smtClean="0"/>
              <a:t>Waterfall Model</a:t>
            </a:r>
            <a:endParaRPr lang="en-US" sz="3500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417420" y="1618284"/>
            <a:ext cx="1576387" cy="49688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IE" sz="1600" b="1" dirty="0">
                <a:latin typeface="Times New Roman" pitchFamily="18" charset="0"/>
              </a:rPr>
              <a:t>Requirements Definition</a:t>
            </a:r>
            <a:endParaRPr lang="en-US" sz="1600" b="1" dirty="0">
              <a:latin typeface="Times New Roman" pitchFamily="18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612807" y="2267572"/>
            <a:ext cx="16002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IE" sz="1600" b="1" dirty="0">
                <a:latin typeface="Times New Roman" pitchFamily="18" charset="0"/>
              </a:rPr>
              <a:t>Functional Design</a:t>
            </a:r>
            <a:endParaRPr lang="en-US" sz="1600" b="1" dirty="0">
              <a:latin typeface="Times New Roman" pitchFamily="18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832007" y="2953372"/>
            <a:ext cx="1600200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IE" sz="1600" b="1">
                <a:latin typeface="Times New Roman" pitchFamily="18" charset="0"/>
              </a:rPr>
              <a:t>Technical Design</a:t>
            </a:r>
            <a:endParaRPr lang="en-US" sz="1600" b="1">
              <a:latin typeface="Times New Roman" pitchFamily="18" charset="0"/>
            </a:endParaRPr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 rot="10800000">
            <a:off x="3155607" y="2115172"/>
            <a:ext cx="457200" cy="457200"/>
          </a:xfrm>
          <a:custGeom>
            <a:avLst/>
            <a:gdLst>
              <a:gd name="T0" fmla="*/ 0 w 432"/>
              <a:gd name="T1" fmla="*/ 0 h 288"/>
              <a:gd name="T2" fmla="*/ 2147483647 w 432"/>
              <a:gd name="T3" fmla="*/ 2147483647 h 288"/>
              <a:gd name="T4" fmla="*/ 2147483647 w 432"/>
              <a:gd name="T5" fmla="*/ 2147483647 h 288"/>
              <a:gd name="T6" fmla="*/ 2147483647 w 432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288"/>
              <a:gd name="T14" fmla="*/ 432 w 432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288">
                <a:moveTo>
                  <a:pt x="0" y="0"/>
                </a:moveTo>
                <a:cubicBezTo>
                  <a:pt x="68" y="12"/>
                  <a:pt x="136" y="24"/>
                  <a:pt x="192" y="48"/>
                </a:cubicBezTo>
                <a:cubicBezTo>
                  <a:pt x="248" y="72"/>
                  <a:pt x="296" y="104"/>
                  <a:pt x="336" y="144"/>
                </a:cubicBezTo>
                <a:cubicBezTo>
                  <a:pt x="376" y="184"/>
                  <a:pt x="404" y="236"/>
                  <a:pt x="432" y="288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 rot="10800000">
            <a:off x="4374807" y="2800972"/>
            <a:ext cx="457200" cy="457200"/>
          </a:xfrm>
          <a:custGeom>
            <a:avLst/>
            <a:gdLst>
              <a:gd name="T0" fmla="*/ 0 w 432"/>
              <a:gd name="T1" fmla="*/ 0 h 288"/>
              <a:gd name="T2" fmla="*/ 2147483647 w 432"/>
              <a:gd name="T3" fmla="*/ 2147483647 h 288"/>
              <a:gd name="T4" fmla="*/ 2147483647 w 432"/>
              <a:gd name="T5" fmla="*/ 2147483647 h 288"/>
              <a:gd name="T6" fmla="*/ 2147483647 w 432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288"/>
              <a:gd name="T14" fmla="*/ 432 w 432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288">
                <a:moveTo>
                  <a:pt x="0" y="0"/>
                </a:moveTo>
                <a:cubicBezTo>
                  <a:pt x="68" y="12"/>
                  <a:pt x="136" y="24"/>
                  <a:pt x="192" y="48"/>
                </a:cubicBezTo>
                <a:cubicBezTo>
                  <a:pt x="248" y="72"/>
                  <a:pt x="296" y="104"/>
                  <a:pt x="336" y="144"/>
                </a:cubicBezTo>
                <a:cubicBezTo>
                  <a:pt x="376" y="184"/>
                  <a:pt x="404" y="236"/>
                  <a:pt x="432" y="288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 rot="10800000">
            <a:off x="5594007" y="3486772"/>
            <a:ext cx="457200" cy="457200"/>
          </a:xfrm>
          <a:custGeom>
            <a:avLst/>
            <a:gdLst>
              <a:gd name="T0" fmla="*/ 0 w 432"/>
              <a:gd name="T1" fmla="*/ 0 h 288"/>
              <a:gd name="T2" fmla="*/ 2147483647 w 432"/>
              <a:gd name="T3" fmla="*/ 2147483647 h 288"/>
              <a:gd name="T4" fmla="*/ 2147483647 w 432"/>
              <a:gd name="T5" fmla="*/ 2147483647 h 288"/>
              <a:gd name="T6" fmla="*/ 2147483647 w 432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288"/>
              <a:gd name="T14" fmla="*/ 432 w 432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288">
                <a:moveTo>
                  <a:pt x="0" y="0"/>
                </a:moveTo>
                <a:cubicBezTo>
                  <a:pt x="68" y="12"/>
                  <a:pt x="136" y="24"/>
                  <a:pt x="192" y="48"/>
                </a:cubicBezTo>
                <a:cubicBezTo>
                  <a:pt x="248" y="72"/>
                  <a:pt x="296" y="104"/>
                  <a:pt x="336" y="144"/>
                </a:cubicBezTo>
                <a:cubicBezTo>
                  <a:pt x="376" y="184"/>
                  <a:pt x="404" y="236"/>
                  <a:pt x="432" y="288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2658720" y="2312022"/>
            <a:ext cx="7270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/>
              <a:t>verify</a:t>
            </a:r>
          </a:p>
        </p:txBody>
      </p:sp>
      <p:sp>
        <p:nvSpPr>
          <p:cNvPr id="23" name="AutoShape 10"/>
          <p:cNvSpPr>
            <a:spLocks noChangeArrowheads="1"/>
          </p:cNvSpPr>
          <p:nvPr/>
        </p:nvSpPr>
        <p:spPr bwMode="auto">
          <a:xfrm rot="5400000">
            <a:off x="4031907" y="1772272"/>
            <a:ext cx="457200" cy="533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gradFill rotWithShape="1">
            <a:gsLst>
              <a:gs pos="0">
                <a:srgbClr val="0066FF"/>
              </a:gs>
              <a:gs pos="100000">
                <a:srgbClr val="99CCFF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utoShape 11"/>
          <p:cNvSpPr>
            <a:spLocks noChangeArrowheads="1"/>
          </p:cNvSpPr>
          <p:nvPr/>
        </p:nvSpPr>
        <p:spPr bwMode="auto">
          <a:xfrm rot="5400000">
            <a:off x="5251107" y="2427909"/>
            <a:ext cx="457200" cy="533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gradFill rotWithShape="1">
            <a:gsLst>
              <a:gs pos="0">
                <a:srgbClr val="0066FF"/>
              </a:gs>
              <a:gs pos="100000">
                <a:srgbClr val="99CCFF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AutoShape 12"/>
          <p:cNvSpPr>
            <a:spLocks noChangeArrowheads="1"/>
          </p:cNvSpPr>
          <p:nvPr/>
        </p:nvSpPr>
        <p:spPr bwMode="auto">
          <a:xfrm rot="5400000">
            <a:off x="6470307" y="3143872"/>
            <a:ext cx="457200" cy="533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gradFill rotWithShape="1">
            <a:gsLst>
              <a:gs pos="0">
                <a:srgbClr val="0066FF"/>
              </a:gs>
              <a:gs pos="100000">
                <a:srgbClr val="99CCFF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3877920" y="2997822"/>
            <a:ext cx="7270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 dirty="0"/>
              <a:t>verify</a:t>
            </a:r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5020920" y="3683622"/>
            <a:ext cx="7270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/>
              <a:t>verify</a:t>
            </a:r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6051207" y="3639172"/>
            <a:ext cx="4038600" cy="1874837"/>
            <a:chOff x="2784" y="2467"/>
            <a:chExt cx="2544" cy="1181"/>
          </a:xfrm>
        </p:grpSpPr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2784" y="2467"/>
              <a:ext cx="1008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/>
              <a:r>
                <a:rPr lang="en-IE" sz="1600" b="1">
                  <a:latin typeface="Times New Roman" pitchFamily="18" charset="0"/>
                </a:rPr>
                <a:t>Coding</a:t>
              </a:r>
              <a:endParaRPr lang="en-US" sz="1600" b="1">
                <a:latin typeface="Times New Roman" pitchFamily="18" charset="0"/>
              </a:endParaRP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3552" y="2899"/>
              <a:ext cx="1008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/>
              <a:r>
                <a:rPr lang="en-IE" sz="1600" b="1">
                  <a:latin typeface="Times New Roman" pitchFamily="18" charset="0"/>
                </a:rPr>
                <a:t>Testing</a:t>
              </a:r>
              <a:endParaRPr lang="en-US" sz="1600" b="1">
                <a:latin typeface="Times New Roman" pitchFamily="18" charset="0"/>
              </a:endParaRP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4335" y="3335"/>
              <a:ext cx="993" cy="313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/>
              <a:r>
                <a:rPr lang="en-IE" sz="1600" b="1">
                  <a:latin typeface="Times New Roman" pitchFamily="18" charset="0"/>
                </a:rPr>
                <a:t>Deployment</a:t>
              </a:r>
              <a:endParaRPr lang="en-US" sz="1600" b="1">
                <a:latin typeface="Times New Roman" pitchFamily="18" charset="0"/>
              </a:endParaRPr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 rot="10800000">
              <a:off x="3264" y="2803"/>
              <a:ext cx="288" cy="288"/>
            </a:xfrm>
            <a:custGeom>
              <a:avLst/>
              <a:gdLst>
                <a:gd name="T0" fmla="*/ 0 w 432"/>
                <a:gd name="T1" fmla="*/ 0 h 288"/>
                <a:gd name="T2" fmla="*/ 1 w 432"/>
                <a:gd name="T3" fmla="*/ 48 h 288"/>
                <a:gd name="T4" fmla="*/ 1 w 432"/>
                <a:gd name="T5" fmla="*/ 144 h 288"/>
                <a:gd name="T6" fmla="*/ 1 w 432"/>
                <a:gd name="T7" fmla="*/ 288 h 2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288"/>
                <a:gd name="T14" fmla="*/ 432 w 432"/>
                <a:gd name="T15" fmla="*/ 288 h 2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288">
                  <a:moveTo>
                    <a:pt x="0" y="0"/>
                  </a:moveTo>
                  <a:cubicBezTo>
                    <a:pt x="68" y="12"/>
                    <a:pt x="136" y="24"/>
                    <a:pt x="192" y="48"/>
                  </a:cubicBezTo>
                  <a:cubicBezTo>
                    <a:pt x="248" y="72"/>
                    <a:pt x="296" y="104"/>
                    <a:pt x="336" y="144"/>
                  </a:cubicBezTo>
                  <a:cubicBezTo>
                    <a:pt x="376" y="184"/>
                    <a:pt x="404" y="236"/>
                    <a:pt x="432" y="2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 rot="10800000">
              <a:off x="4032" y="3235"/>
              <a:ext cx="288" cy="288"/>
            </a:xfrm>
            <a:custGeom>
              <a:avLst/>
              <a:gdLst>
                <a:gd name="T0" fmla="*/ 0 w 432"/>
                <a:gd name="T1" fmla="*/ 0 h 288"/>
                <a:gd name="T2" fmla="*/ 1 w 432"/>
                <a:gd name="T3" fmla="*/ 48 h 288"/>
                <a:gd name="T4" fmla="*/ 1 w 432"/>
                <a:gd name="T5" fmla="*/ 144 h 288"/>
                <a:gd name="T6" fmla="*/ 1 w 432"/>
                <a:gd name="T7" fmla="*/ 288 h 2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288"/>
                <a:gd name="T14" fmla="*/ 432 w 432"/>
                <a:gd name="T15" fmla="*/ 288 h 2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288">
                  <a:moveTo>
                    <a:pt x="0" y="0"/>
                  </a:moveTo>
                  <a:cubicBezTo>
                    <a:pt x="68" y="12"/>
                    <a:pt x="136" y="24"/>
                    <a:pt x="192" y="48"/>
                  </a:cubicBezTo>
                  <a:cubicBezTo>
                    <a:pt x="248" y="72"/>
                    <a:pt x="296" y="104"/>
                    <a:pt x="336" y="144"/>
                  </a:cubicBezTo>
                  <a:cubicBezTo>
                    <a:pt x="376" y="184"/>
                    <a:pt x="404" y="236"/>
                    <a:pt x="432" y="28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AutoShape 21"/>
            <p:cNvSpPr>
              <a:spLocks noChangeArrowheads="1"/>
            </p:cNvSpPr>
            <p:nvPr/>
          </p:nvSpPr>
          <p:spPr bwMode="auto">
            <a:xfrm rot="5400000">
              <a:off x="3816" y="2587"/>
              <a:ext cx="28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50 w 21600"/>
                <a:gd name="T13" fmla="*/ 2893 h 21600"/>
                <a:gd name="T14" fmla="*/ 18225 w 21600"/>
                <a:gd name="T15" fmla="*/ 9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1">
              <a:gsLst>
                <a:gs pos="0">
                  <a:srgbClr val="0066FF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AutoShape 22"/>
            <p:cNvSpPr>
              <a:spLocks noChangeArrowheads="1"/>
            </p:cNvSpPr>
            <p:nvPr/>
          </p:nvSpPr>
          <p:spPr bwMode="auto">
            <a:xfrm rot="5400000">
              <a:off x="4584" y="3019"/>
              <a:ext cx="288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50 w 21600"/>
                <a:gd name="T13" fmla="*/ 2893 h 21600"/>
                <a:gd name="T14" fmla="*/ 18225 w 21600"/>
                <a:gd name="T15" fmla="*/ 9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1">
              <a:gsLst>
                <a:gs pos="0">
                  <a:srgbClr val="0066FF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23"/>
            <p:cNvSpPr txBox="1">
              <a:spLocks noChangeArrowheads="1"/>
            </p:cNvSpPr>
            <p:nvPr/>
          </p:nvSpPr>
          <p:spPr bwMode="auto">
            <a:xfrm>
              <a:off x="2903" y="2927"/>
              <a:ext cx="458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 i="1"/>
                <a:t>verify</a:t>
              </a:r>
            </a:p>
          </p:txBody>
        </p:sp>
        <p:sp>
          <p:nvSpPr>
            <p:cNvPr id="37" name="Text Box 24"/>
            <p:cNvSpPr txBox="1">
              <a:spLocks noChangeArrowheads="1"/>
            </p:cNvSpPr>
            <p:nvPr/>
          </p:nvSpPr>
          <p:spPr bwMode="auto">
            <a:xfrm>
              <a:off x="3696" y="3379"/>
              <a:ext cx="458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 i="1"/>
                <a:t>verify</a:t>
              </a:r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08" y="4923192"/>
            <a:ext cx="187860" cy="18786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13" y="5343282"/>
            <a:ext cx="187860" cy="18786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13" y="5983561"/>
            <a:ext cx="187860" cy="1878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904979" y="921543"/>
            <a:ext cx="6164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Waterfall model is a sequential software development </a:t>
            </a:r>
          </a:p>
          <a:p>
            <a:r>
              <a:rPr lang="en-US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904979" y="1506023"/>
            <a:ext cx="572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Transition between phases is done by a formal review.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909211" y="1862598"/>
            <a:ext cx="6160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review is a checkpoint to see that you are on the right </a:t>
            </a:r>
          </a:p>
          <a:p>
            <a:r>
              <a:rPr lang="en-US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track.</a:t>
            </a:r>
            <a:endParaRPr lang="en-US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477" y="1020892"/>
            <a:ext cx="187860" cy="18786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477" y="1595162"/>
            <a:ext cx="187860" cy="18786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477" y="1970752"/>
            <a:ext cx="187860" cy="18786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15581" y="4276944"/>
            <a:ext cx="2690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Testing in Waterfall model: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15581" y="4854809"/>
            <a:ext cx="592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Testing is not inherent to every phase of the Waterfall model.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0683" y="5224141"/>
            <a:ext cx="7130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 smtClean="0"/>
              <a:t>Constant  checking from the design, implementation and </a:t>
            </a:r>
          </a:p>
          <a:p>
            <a:pPr lvl="1"/>
            <a:r>
              <a:rPr lang="en-US" dirty="0" smtClean="0"/>
              <a:t>verification phases is required to validate the phases preceding them.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515581" y="5901694"/>
            <a:ext cx="6137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Testing phase: Only after coding phase, software testing begins.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77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8" grpId="0"/>
      <p:bldP spid="49" grpId="0"/>
      <p:bldP spid="50" grpId="0"/>
      <p:bldP spid="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um_diagram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35" y="3025218"/>
            <a:ext cx="6190628" cy="3416771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739346" y="76054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 smtClean="0"/>
              <a:t>Scrum Model</a:t>
            </a:r>
            <a:endParaRPr lang="en-US" sz="3500" dirty="0"/>
          </a:p>
        </p:txBody>
      </p:sp>
      <p:sp>
        <p:nvSpPr>
          <p:cNvPr id="4" name="TextBox 3"/>
          <p:cNvSpPr txBox="1"/>
          <p:nvPr/>
        </p:nvSpPr>
        <p:spPr>
          <a:xfrm>
            <a:off x="4156593" y="1683196"/>
            <a:ext cx="70983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Testing in Scrum model:</a:t>
            </a:r>
          </a:p>
          <a:p>
            <a:pPr lvl="1"/>
            <a:r>
              <a:rPr lang="en-US" dirty="0" smtClean="0"/>
              <a:t>Delivery cycles are short. Development is very focused. Diagrams, </a:t>
            </a:r>
          </a:p>
          <a:p>
            <a:pPr lvl="1"/>
            <a:r>
              <a:rPr lang="en-US" dirty="0" smtClean="0"/>
              <a:t>use cases, user stories, index cards, or discussions of functionality </a:t>
            </a:r>
          </a:p>
          <a:p>
            <a:pPr lvl="1"/>
            <a:r>
              <a:rPr lang="en-US" dirty="0" smtClean="0"/>
              <a:t>serve are “documentation” to test against.</a:t>
            </a:r>
          </a:p>
          <a:p>
            <a:pPr lvl="1"/>
            <a:r>
              <a:rPr lang="en-US" dirty="0" smtClean="0"/>
              <a:t>Usually have more unit testing by developers.</a:t>
            </a:r>
          </a:p>
          <a:p>
            <a:pPr lvl="1"/>
            <a:r>
              <a:rPr lang="en-US" dirty="0" smtClean="0"/>
              <a:t>Dynamic nature of development needs structured regression testing.</a:t>
            </a:r>
          </a:p>
          <a:p>
            <a:pPr lvl="1"/>
            <a:r>
              <a:rPr lang="en-US" dirty="0" smtClean="0"/>
              <a:t>Main testing is often ad-hoc, but focused.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757" y="2019566"/>
            <a:ext cx="187860" cy="1878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757" y="2837358"/>
            <a:ext cx="187860" cy="1878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757" y="3119148"/>
            <a:ext cx="187860" cy="1878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757" y="3386958"/>
            <a:ext cx="187860" cy="18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8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39346" y="76054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 smtClean="0"/>
              <a:t>Testing Phases and Milestones</a:t>
            </a:r>
            <a:endParaRPr lang="en-US" sz="3500" dirty="0"/>
          </a:p>
        </p:txBody>
      </p:sp>
      <p:sp>
        <p:nvSpPr>
          <p:cNvPr id="3" name="Rectangle 2"/>
          <p:cNvSpPr/>
          <p:nvPr/>
        </p:nvSpPr>
        <p:spPr>
          <a:xfrm>
            <a:off x="864973" y="2086105"/>
            <a:ext cx="8048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en-US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pPr lvl="1"/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82" y="3802842"/>
            <a:ext cx="187860" cy="1878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82" y="4619297"/>
            <a:ext cx="187860" cy="1878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1616" y="1716773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Phase: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3671" y="2025420"/>
            <a:ext cx="9104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time block within the Software Development Lifecycles. There are a number of activities that </a:t>
            </a:r>
          </a:p>
          <a:p>
            <a:r>
              <a:rPr lang="en-US" dirty="0" smtClean="0"/>
              <a:t>have to be done in each time block.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89975" y="3149490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Milestones: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313671" y="3598945"/>
            <a:ext cx="9008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significant event in the software developing process in which, the software moves from one </a:t>
            </a:r>
          </a:p>
          <a:p>
            <a:r>
              <a:rPr lang="en-US" dirty="0" smtClean="0"/>
              <a:t>phase to another. The milestone let us know where the app. is in the SDLC.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313671" y="4509923"/>
            <a:ext cx="5590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Criteria</a:t>
            </a:r>
            <a:r>
              <a:rPr lang="en-US" dirty="0" smtClean="0"/>
              <a:t>: Built or created from the standard of the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2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7827" y="2782961"/>
            <a:ext cx="4792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Which model should we choose for your project?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" y="2497539"/>
            <a:ext cx="1716106" cy="94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4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Testing Overview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1632636"/>
            <a:ext cx="648329" cy="6327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0605" y="1793380"/>
            <a:ext cx="213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Testers responsibility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2518204"/>
            <a:ext cx="648329" cy="6327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0605" y="2649922"/>
            <a:ext cx="211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Objectives of Testing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3403772"/>
            <a:ext cx="648329" cy="6327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60605" y="3506464"/>
            <a:ext cx="2731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Basic Testing Terminologies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4314054"/>
            <a:ext cx="648329" cy="6327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60605" y="4416746"/>
            <a:ext cx="1478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Test Coverage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9" y="5219548"/>
            <a:ext cx="648329" cy="6327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60605" y="5322240"/>
            <a:ext cx="363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Manual Testing &amp; Automated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3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059" y="246633"/>
            <a:ext cx="10515600" cy="1325563"/>
          </a:xfrm>
        </p:spPr>
        <p:txBody>
          <a:bodyPr/>
          <a:lstStyle/>
          <a:p>
            <a:r>
              <a:rPr lang="en-US" sz="4000" dirty="0" smtClean="0"/>
              <a:t>Testers responsibility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1915907"/>
            <a:ext cx="187860" cy="18786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2259618"/>
            <a:ext cx="187860" cy="18786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2603329"/>
            <a:ext cx="187860" cy="1878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3572547"/>
            <a:ext cx="187860" cy="1878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3878670"/>
            <a:ext cx="187860" cy="18786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4196281"/>
            <a:ext cx="187860" cy="18786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5122545"/>
            <a:ext cx="187860" cy="18786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5440156"/>
            <a:ext cx="187860" cy="18786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5740514"/>
            <a:ext cx="187860" cy="1878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69" y="1286958"/>
            <a:ext cx="343190" cy="57047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69" y="2866997"/>
            <a:ext cx="343190" cy="57047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02" y="4430737"/>
            <a:ext cx="343190" cy="570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7152" y="1403956"/>
            <a:ext cx="3888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Typical Responsibilities of a Tester (QC):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400537" y="1831787"/>
            <a:ext cx="1521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Problems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0537" y="2174224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bugs, design issues.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0537" y="2517673"/>
            <a:ext cx="3695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more efficient ways to find bugs.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152" y="2997319"/>
            <a:ext cx="2423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Communicate Problems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0537" y="3466185"/>
            <a:ext cx="3058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 bugs and design issues.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0537" y="3779702"/>
            <a:ext cx="272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 on testing progress.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0537" y="4093421"/>
            <a:ext cx="4211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Evaluate and report the program’s stability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977152" y="4547317"/>
            <a:ext cx="3420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Manage/Supervise Testing </a:t>
            </a:r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400537" y="5001213"/>
            <a:ext cx="58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Estimation &amp; Preparation (test plans, schedules, tasks, time).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0537" y="5331136"/>
            <a:ext cx="5454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Measure and report testing progress against milestones.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0537" y="5659239"/>
            <a:ext cx="3120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 other testers to find bugs.</a:t>
            </a:r>
          </a:p>
        </p:txBody>
      </p:sp>
    </p:spTree>
    <p:extLst>
      <p:ext uri="{BB962C8B-B14F-4D97-AF65-F5344CB8AC3E}">
        <p14:creationId xmlns:p14="http://schemas.microsoft.com/office/powerpoint/2010/main" val="321030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059" y="246633"/>
            <a:ext cx="10515600" cy="1325563"/>
          </a:xfrm>
        </p:spPr>
        <p:txBody>
          <a:bodyPr/>
          <a:lstStyle/>
          <a:p>
            <a:r>
              <a:rPr lang="en-US" sz="4000" dirty="0" smtClean="0"/>
              <a:t>Objectives of Testing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764059" y="157219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1915907"/>
            <a:ext cx="187860" cy="18786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7" y="2259618"/>
            <a:ext cx="187860" cy="1878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1273204"/>
            <a:ext cx="343190" cy="570476"/>
          </a:xfrm>
          <a:prstGeom prst="rect">
            <a:avLst/>
          </a:prstGeom>
        </p:spPr>
      </p:pic>
      <p:pic>
        <p:nvPicPr>
          <p:cNvPr id="28" name="Picture 5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29525" y="2691127"/>
            <a:ext cx="2770138" cy="3232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068147" y="1403956"/>
            <a:ext cx="2814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The program’s specification: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425389" y="1843680"/>
            <a:ext cx="650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This program is designed to add two numbers, which you will enter.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425389" y="2213012"/>
            <a:ext cx="4090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Each number should be one or two digits.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1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6387" y="1958442"/>
            <a:ext cx="4265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Objective of testing is verify the program </a:t>
            </a:r>
          </a:p>
          <a:p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works correctly?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20998" y="2712495"/>
            <a:ext cx="65433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66"/>
                </a:solidFill>
              </a:rPr>
              <a:t>To </a:t>
            </a:r>
            <a:r>
              <a:rPr lang="en-US" dirty="0">
                <a:solidFill>
                  <a:srgbClr val="000066"/>
                </a:solidFill>
              </a:rPr>
              <a:t>Find </a:t>
            </a:r>
            <a:r>
              <a:rPr lang="en-US" dirty="0" smtClean="0">
                <a:solidFill>
                  <a:srgbClr val="000066"/>
                </a:solidFill>
              </a:rPr>
              <a:t>Problems.</a:t>
            </a:r>
          </a:p>
          <a:p>
            <a:r>
              <a:rPr lang="en-US" dirty="0" smtClean="0">
                <a:solidFill>
                  <a:srgbClr val="000066"/>
                </a:solidFill>
              </a:rPr>
              <a:t>A </a:t>
            </a:r>
            <a:r>
              <a:rPr lang="en-US" dirty="0">
                <a:solidFill>
                  <a:srgbClr val="000066"/>
                </a:solidFill>
              </a:rPr>
              <a:t>test that reveals a problem is a success. A test that did not reveal </a:t>
            </a:r>
            <a:endParaRPr lang="en-US" dirty="0" smtClean="0">
              <a:solidFill>
                <a:srgbClr val="000066"/>
              </a:solidFill>
            </a:endParaRPr>
          </a:p>
          <a:p>
            <a:r>
              <a:rPr lang="en-US" dirty="0" smtClean="0">
                <a:solidFill>
                  <a:srgbClr val="000066"/>
                </a:solidFill>
              </a:rPr>
              <a:t>a </a:t>
            </a:r>
            <a:r>
              <a:rPr lang="en-US" dirty="0">
                <a:solidFill>
                  <a:srgbClr val="000066"/>
                </a:solidFill>
              </a:rPr>
              <a:t>problem is (often) a waste of time!</a:t>
            </a:r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1426330" y="2820302"/>
            <a:ext cx="516281" cy="238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97016" y="4039988"/>
            <a:ext cx="3739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The </a:t>
            </a:r>
            <a:r>
              <a:rPr lang="en-US" b="1" dirty="0">
                <a:solidFill>
                  <a:srgbClr val="00B050"/>
                </a:solidFill>
              </a:rPr>
              <a:t>Purpose of Finding </a:t>
            </a:r>
            <a:r>
              <a:rPr lang="en-US" b="1" dirty="0" smtClean="0">
                <a:solidFill>
                  <a:srgbClr val="00B050"/>
                </a:solidFill>
              </a:rPr>
              <a:t>Problems to?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20998" y="5086621"/>
            <a:ext cx="9454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66"/>
                </a:solidFill>
              </a:rPr>
              <a:t>The best tester is not the one who finds the most bugs or who embarrasses the most programmers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1385055" y="5199551"/>
            <a:ext cx="516281" cy="238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20998" y="5666786"/>
            <a:ext cx="5358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66"/>
                </a:solidFill>
              </a:rPr>
              <a:t>The best tester is the one who gets the most bugs fixed</a:t>
            </a:r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1426330" y="5774593"/>
            <a:ext cx="516281" cy="238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020998" y="4590652"/>
            <a:ext cx="166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0066"/>
                </a:solidFill>
              </a:rPr>
              <a:t>Get Them Fixed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1380735" y="4655870"/>
            <a:ext cx="516281" cy="238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77531" y="745646"/>
            <a:ext cx="213353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smtClean="0"/>
              <a:t>Quick question</a:t>
            </a:r>
            <a:endParaRPr lang="en-US" sz="25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68" y="536934"/>
            <a:ext cx="1716106" cy="94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52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/>
      <p:bldP spid="7" grpId="0"/>
      <p:bldP spid="8" grpId="0" animBg="1"/>
      <p:bldP spid="9" grpId="0"/>
      <p:bldP spid="10" grpId="0" animBg="1"/>
      <p:bldP spid="11" grpId="0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66382" y="1533736"/>
            <a:ext cx="3219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Opinion of Developer and Tester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65" y="2680305"/>
            <a:ext cx="1716106" cy="940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66382" y="3343069"/>
            <a:ext cx="3894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would you do if:</a:t>
            </a:r>
          </a:p>
          <a:p>
            <a:r>
              <a:rPr lang="en-US" dirty="0"/>
              <a:t> </a:t>
            </a:r>
            <a:r>
              <a:rPr lang="en-US" dirty="0" smtClean="0"/>
              <a:t>- Tester said This is a bug</a:t>
            </a:r>
          </a:p>
          <a:p>
            <a:r>
              <a:rPr lang="en-US" dirty="0" smtClean="0"/>
              <a:t> - But a developer said this is NOT a bug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66382" y="4653401"/>
            <a:ext cx="4755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How is a “Good” developer and a “Good” tester?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324" y="1428410"/>
            <a:ext cx="712058" cy="7120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324" y="2438336"/>
            <a:ext cx="712058" cy="712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324" y="3365100"/>
            <a:ext cx="712058" cy="7120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324" y="4365997"/>
            <a:ext cx="712058" cy="7120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66382" y="2586735"/>
            <a:ext cx="371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Relationship of developer and Tester?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9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059" y="246633"/>
            <a:ext cx="10515600" cy="1325563"/>
          </a:xfrm>
        </p:spPr>
        <p:txBody>
          <a:bodyPr/>
          <a:lstStyle/>
          <a:p>
            <a:r>
              <a:rPr lang="en-US" sz="4000" dirty="0"/>
              <a:t>Basic Testing Terminologies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1038312"/>
            <a:ext cx="343190" cy="5704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8147" y="1236176"/>
            <a:ext cx="939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66"/>
                </a:solidFill>
              </a:rPr>
              <a:t>Test method</a:t>
            </a:r>
            <a:r>
              <a:rPr lang="en-US" dirty="0">
                <a:solidFill>
                  <a:srgbClr val="000066"/>
                </a:solidFill>
              </a:rPr>
              <a:t>: is a definitive procedure that produces a test </a:t>
            </a:r>
            <a:r>
              <a:rPr lang="en-US" dirty="0" smtClean="0">
                <a:solidFill>
                  <a:srgbClr val="000066"/>
                </a:solidFill>
              </a:rPr>
              <a:t>result( White-box, Black-box, Grey-box)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1776417"/>
            <a:ext cx="343190" cy="5704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8147" y="1876989"/>
            <a:ext cx="1018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66"/>
                </a:solidFill>
              </a:rPr>
              <a:t>Scope of Testing</a:t>
            </a:r>
            <a:r>
              <a:rPr lang="en-US" dirty="0">
                <a:solidFill>
                  <a:srgbClr val="000066"/>
                </a:solidFill>
              </a:rPr>
              <a:t>: specifies the type of the quality objective and the level of acceptability for each objective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967057"/>
            <a:ext cx="12953619" cy="105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274320" eaLnBrk="0" hangingPunc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i="1" u="sng" dirty="0">
                <a:solidFill>
                  <a:srgbClr val="000066"/>
                </a:solidFill>
              </a:rPr>
              <a:t>White-box</a:t>
            </a:r>
            <a:r>
              <a:rPr lang="en-US" sz="1200" dirty="0">
                <a:solidFill>
                  <a:srgbClr val="000066"/>
                </a:solidFill>
              </a:rPr>
              <a:t>: Test Cases  &amp; Tests design based on the knowledge of the code to exercising the code (Doug Hoffman).</a:t>
            </a:r>
          </a:p>
          <a:p>
            <a:pPr marL="457200" lvl="4" eaLnBrk="0" hangingPunc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i="1" u="sng" dirty="0">
                <a:solidFill>
                  <a:srgbClr val="000066"/>
                </a:solidFill>
              </a:rPr>
              <a:t>Black-box</a:t>
            </a:r>
            <a:r>
              <a:rPr lang="en-US" sz="1200" dirty="0">
                <a:solidFill>
                  <a:srgbClr val="000066"/>
                </a:solidFill>
              </a:rPr>
              <a:t>: Focus on input, outputs, and an “externally derived” theory of operation, from the customer’s view (</a:t>
            </a:r>
            <a:r>
              <a:rPr lang="en-US" sz="1200" dirty="0" err="1">
                <a:solidFill>
                  <a:srgbClr val="000066"/>
                </a:solidFill>
              </a:rPr>
              <a:t>Cem</a:t>
            </a:r>
            <a:r>
              <a:rPr lang="en-US" sz="1200" dirty="0">
                <a:solidFill>
                  <a:srgbClr val="000066"/>
                </a:solidFill>
              </a:rPr>
              <a:t> </a:t>
            </a:r>
            <a:r>
              <a:rPr lang="en-US" sz="1200" dirty="0" err="1">
                <a:solidFill>
                  <a:srgbClr val="000066"/>
                </a:solidFill>
              </a:rPr>
              <a:t>Kaner</a:t>
            </a:r>
            <a:r>
              <a:rPr lang="en-US" sz="1200" dirty="0">
                <a:solidFill>
                  <a:srgbClr val="000066"/>
                </a:solidFill>
              </a:rPr>
              <a:t>).</a:t>
            </a:r>
          </a:p>
          <a:p>
            <a:pPr marL="457200" lvl="4" eaLnBrk="0" hangingPunc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i="1" u="sng" dirty="0">
                <a:solidFill>
                  <a:srgbClr val="000066"/>
                </a:solidFill>
              </a:rPr>
              <a:t>Grey-box</a:t>
            </a:r>
            <a:r>
              <a:rPr lang="en-US" sz="1200" dirty="0">
                <a:solidFill>
                  <a:srgbClr val="000066"/>
                </a:solidFill>
              </a:rPr>
              <a:t>: Testing involving inputs, outputs, but test design is educated by information about the code and the program operation of a kind that would normally be out of scope of the view of the tester.</a:t>
            </a:r>
            <a:endParaRPr lang="en-US" sz="1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2461167"/>
            <a:ext cx="343190" cy="5704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8147" y="2561739"/>
            <a:ext cx="553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66"/>
                </a:solidFill>
              </a:rPr>
              <a:t>Test Strategy</a:t>
            </a:r>
            <a:r>
              <a:rPr lang="en-US" dirty="0">
                <a:solidFill>
                  <a:srgbClr val="000066"/>
                </a:solidFill>
              </a:rPr>
              <a:t>: describes how you will test the application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3153801"/>
            <a:ext cx="343190" cy="5704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8147" y="3254373"/>
            <a:ext cx="888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66"/>
                </a:solidFill>
              </a:rPr>
              <a:t>Test Type</a:t>
            </a:r>
            <a:r>
              <a:rPr lang="en-US" dirty="0">
                <a:solidFill>
                  <a:srgbClr val="000066"/>
                </a:solidFill>
              </a:rPr>
              <a:t>: The way we execute Test case, a group of test cases together to reach an objective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3882673"/>
            <a:ext cx="343190" cy="5704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2790" y="3873682"/>
            <a:ext cx="10796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66"/>
                </a:solidFill>
              </a:rPr>
              <a:t>Test Suite</a:t>
            </a:r>
            <a:r>
              <a:rPr lang="en-US" dirty="0">
                <a:solidFill>
                  <a:srgbClr val="000066"/>
                </a:solidFill>
              </a:rPr>
              <a:t>: a collection of test cases, used for a properly goal of each round of testing. It often also contains more </a:t>
            </a:r>
            <a:endParaRPr lang="en-US" dirty="0" smtClean="0">
              <a:solidFill>
                <a:srgbClr val="000066"/>
              </a:solidFill>
            </a:endParaRPr>
          </a:p>
          <a:p>
            <a:r>
              <a:rPr lang="en-US" dirty="0" smtClean="0">
                <a:solidFill>
                  <a:srgbClr val="000066"/>
                </a:solidFill>
              </a:rPr>
              <a:t>detailed </a:t>
            </a:r>
            <a:r>
              <a:rPr lang="en-US" dirty="0">
                <a:solidFill>
                  <a:srgbClr val="000066"/>
                </a:solidFill>
              </a:rPr>
              <a:t>instructions or goals</a:t>
            </a:r>
            <a:endParaRPr lang="en-US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4621678"/>
            <a:ext cx="343190" cy="5704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68147" y="4646692"/>
            <a:ext cx="10765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66"/>
                </a:solidFill>
              </a:rPr>
              <a:t>Test Plan</a:t>
            </a:r>
            <a:r>
              <a:rPr lang="en-US" dirty="0">
                <a:solidFill>
                  <a:srgbClr val="000066"/>
                </a:solidFill>
              </a:rPr>
              <a:t>: A management document outlining risks, priorities, and schedules for testing. A document prescribing </a:t>
            </a:r>
            <a:endParaRPr lang="en-US" dirty="0" smtClean="0">
              <a:solidFill>
                <a:srgbClr val="000066"/>
              </a:solidFill>
            </a:endParaRPr>
          </a:p>
          <a:p>
            <a:r>
              <a:rPr lang="en-US" dirty="0" smtClean="0">
                <a:solidFill>
                  <a:srgbClr val="000066"/>
                </a:solidFill>
              </a:rPr>
              <a:t>the </a:t>
            </a:r>
            <a:r>
              <a:rPr lang="en-US" dirty="0">
                <a:solidFill>
                  <a:srgbClr val="000066"/>
                </a:solidFill>
              </a:rPr>
              <a:t>approach to be taken for intended testing activities</a:t>
            </a:r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5391139"/>
            <a:ext cx="343190" cy="5704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8147" y="5401174"/>
            <a:ext cx="10141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66"/>
                </a:solidFill>
              </a:rPr>
              <a:t>Test Case</a:t>
            </a:r>
            <a:r>
              <a:rPr lang="en-US" dirty="0">
                <a:solidFill>
                  <a:srgbClr val="000066"/>
                </a:solidFill>
              </a:rPr>
              <a:t>: A test that (ideally) executes a single well defined test objective, with a specific of test data and </a:t>
            </a:r>
            <a:endParaRPr lang="en-US" dirty="0" smtClean="0">
              <a:solidFill>
                <a:srgbClr val="000066"/>
              </a:solidFill>
            </a:endParaRPr>
          </a:p>
          <a:p>
            <a:r>
              <a:rPr lang="en-US" dirty="0" smtClean="0">
                <a:solidFill>
                  <a:srgbClr val="000066"/>
                </a:solidFill>
              </a:rPr>
              <a:t>associated </a:t>
            </a:r>
            <a:r>
              <a:rPr lang="en-US" dirty="0">
                <a:solidFill>
                  <a:srgbClr val="000066"/>
                </a:solidFill>
              </a:rPr>
              <a:t>procedures developed for a particular objective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30" y="6126118"/>
            <a:ext cx="343190" cy="5704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2790" y="6136153"/>
            <a:ext cx="11182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66"/>
                </a:solidFill>
              </a:rPr>
              <a:t>Bug Report</a:t>
            </a:r>
            <a:r>
              <a:rPr lang="en-US" dirty="0">
                <a:solidFill>
                  <a:srgbClr val="000066"/>
                </a:solidFill>
              </a:rPr>
              <a:t>: document describes the software error that found during the testing, with specific test data and </a:t>
            </a:r>
            <a:r>
              <a:rPr lang="en-US" dirty="0" smtClean="0">
                <a:solidFill>
                  <a:srgbClr val="000066"/>
                </a:solidFill>
              </a:rPr>
              <a:t>detailed</a:t>
            </a:r>
          </a:p>
          <a:p>
            <a:r>
              <a:rPr lang="en-US" dirty="0" smtClean="0">
                <a:solidFill>
                  <a:srgbClr val="000066"/>
                </a:solidFill>
              </a:rPr>
              <a:t> </a:t>
            </a:r>
            <a:r>
              <a:rPr lang="en-US" dirty="0">
                <a:solidFill>
                  <a:srgbClr val="000066"/>
                </a:solidFill>
              </a:rPr>
              <a:t>procedures that cause the error. This is the main communication channel. Make it </a:t>
            </a:r>
            <a:r>
              <a:rPr lang="en-US" b="1" i="1" dirty="0">
                <a:solidFill>
                  <a:srgbClr val="000066"/>
                </a:solidFill>
              </a:rPr>
              <a:t>effectiveness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38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9" grpId="0"/>
      <p:bldP spid="21" grpId="0"/>
      <p:bldP spid="23" grpId="0"/>
      <p:bldP spid="25" grpId="0"/>
      <p:bldP spid="27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059" y="246633"/>
            <a:ext cx="10515600" cy="1325563"/>
          </a:xfrm>
        </p:spPr>
        <p:txBody>
          <a:bodyPr/>
          <a:lstStyle/>
          <a:p>
            <a:r>
              <a:rPr lang="en-US" sz="4000" dirty="0" smtClean="0"/>
              <a:t>Test Coverage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1038312"/>
            <a:ext cx="343190" cy="5704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2790" y="1143187"/>
            <a:ext cx="6563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66"/>
                </a:solidFill>
              </a:rPr>
              <a:t>Coverage</a:t>
            </a:r>
            <a:r>
              <a:rPr lang="en-US" dirty="0">
                <a:solidFill>
                  <a:srgbClr val="000066"/>
                </a:solidFill>
              </a:rPr>
              <a:t>: measures of the amount of testing done of a certain type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1776417"/>
            <a:ext cx="343190" cy="5704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8147" y="1876989"/>
            <a:ext cx="1018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Basic or simplistic, </a:t>
            </a:r>
            <a:r>
              <a:rPr lang="en-US" b="1" i="1" dirty="0">
                <a:solidFill>
                  <a:srgbClr val="000066"/>
                </a:solidFill>
              </a:rPr>
              <a:t>coverage</a:t>
            </a:r>
            <a:r>
              <a:rPr lang="en-US" dirty="0">
                <a:solidFill>
                  <a:srgbClr val="000066"/>
                </a:solidFill>
              </a:rPr>
              <a:t> is the percentage of product “tested” based on some aspects of the project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967057"/>
            <a:ext cx="1295361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1520" indent="-274320" eaLnBrk="0" hangingPunc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b="1" i="1" dirty="0">
                <a:solidFill>
                  <a:srgbClr val="000066"/>
                </a:solidFill>
              </a:rPr>
              <a:t>Function coverage</a:t>
            </a:r>
            <a:r>
              <a:rPr lang="en-US" sz="1200" dirty="0">
                <a:solidFill>
                  <a:srgbClr val="000066"/>
                </a:solidFill>
              </a:rPr>
              <a:t>: Has each function in the program been tested? </a:t>
            </a:r>
          </a:p>
          <a:p>
            <a:pPr marL="731520" indent="-274320" eaLnBrk="0" hangingPunc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b="1" i="1" dirty="0">
                <a:solidFill>
                  <a:srgbClr val="000066"/>
                </a:solidFill>
              </a:rPr>
              <a:t>Condition coverage</a:t>
            </a:r>
            <a:r>
              <a:rPr lang="en-US" sz="1200" dirty="0">
                <a:solidFill>
                  <a:srgbClr val="000066"/>
                </a:solidFill>
              </a:rPr>
              <a:t>: Has each evaluation point (such as a true/false decision) been tested? </a:t>
            </a:r>
          </a:p>
          <a:p>
            <a:pPr marL="731520" indent="-274320" eaLnBrk="0" hangingPunc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b="1" i="1" dirty="0">
                <a:solidFill>
                  <a:srgbClr val="000066"/>
                </a:solidFill>
              </a:rPr>
              <a:t>Path coverage</a:t>
            </a:r>
            <a:r>
              <a:rPr lang="en-US" sz="1200" dirty="0">
                <a:solidFill>
                  <a:srgbClr val="000066"/>
                </a:solidFill>
              </a:rPr>
              <a:t>: Has every possible route been tested? </a:t>
            </a:r>
          </a:p>
          <a:p>
            <a:pPr marL="731520" indent="-274320" eaLnBrk="0" hangingPunc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b="1" i="1" dirty="0">
                <a:solidFill>
                  <a:srgbClr val="000066"/>
                </a:solidFill>
              </a:rPr>
              <a:t>Test coverage</a:t>
            </a:r>
            <a:r>
              <a:rPr lang="en-US" sz="1200" dirty="0">
                <a:solidFill>
                  <a:srgbClr val="000066"/>
                </a:solidFill>
              </a:rPr>
              <a:t>: Has every designed TCs been executed</a:t>
            </a:r>
            <a:r>
              <a:rPr lang="en-US" sz="1200" dirty="0" smtClean="0">
                <a:solidFill>
                  <a:srgbClr val="000066"/>
                </a:solidFill>
              </a:rPr>
              <a:t>?</a:t>
            </a:r>
          </a:p>
          <a:p>
            <a:pPr marL="731520" indent="-274320" eaLnBrk="0" hangingPunc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rgbClr val="000066"/>
                </a:solidFill>
              </a:rPr>
              <a:t>Stop testing is a business decision</a:t>
            </a:r>
            <a:endParaRPr lang="en-US" sz="12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7" y="3153801"/>
            <a:ext cx="343190" cy="5704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8147" y="3254373"/>
            <a:ext cx="9508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Various aspects of coverage</a:t>
            </a:r>
            <a:r>
              <a:rPr lang="en-US" dirty="0" smtClean="0">
                <a:solidFill>
                  <a:srgbClr val="000066"/>
                </a:solidFill>
              </a:rPr>
              <a:t>: </a:t>
            </a:r>
            <a:r>
              <a:rPr lang="en-US" b="1" i="1" dirty="0">
                <a:solidFill>
                  <a:srgbClr val="000066"/>
                </a:solidFill>
              </a:rPr>
              <a:t>Function </a:t>
            </a:r>
            <a:r>
              <a:rPr lang="en-US" b="1" i="1" dirty="0" smtClean="0">
                <a:solidFill>
                  <a:srgbClr val="000066"/>
                </a:solidFill>
              </a:rPr>
              <a:t>coverage, </a:t>
            </a:r>
            <a:r>
              <a:rPr lang="en-US" b="1" i="1" dirty="0">
                <a:solidFill>
                  <a:srgbClr val="000066"/>
                </a:solidFill>
              </a:rPr>
              <a:t>Condition </a:t>
            </a:r>
            <a:r>
              <a:rPr lang="en-US" b="1" i="1" dirty="0" smtClean="0">
                <a:solidFill>
                  <a:srgbClr val="000066"/>
                </a:solidFill>
              </a:rPr>
              <a:t>coverage, </a:t>
            </a:r>
            <a:r>
              <a:rPr lang="en-US" b="1" i="1" dirty="0">
                <a:solidFill>
                  <a:srgbClr val="000066"/>
                </a:solidFill>
              </a:rPr>
              <a:t>Path </a:t>
            </a:r>
            <a:r>
              <a:rPr lang="en-US" b="1" i="1" dirty="0" smtClean="0">
                <a:solidFill>
                  <a:srgbClr val="000066"/>
                </a:solidFill>
              </a:rPr>
              <a:t>coverage, </a:t>
            </a:r>
            <a:r>
              <a:rPr lang="en-US" b="1" i="1" dirty="0">
                <a:solidFill>
                  <a:srgbClr val="000066"/>
                </a:solidFill>
              </a:rPr>
              <a:t>Test coverage</a:t>
            </a:r>
            <a:endParaRPr lang="en-US" dirty="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100084"/>
              </p:ext>
            </p:extLst>
          </p:nvPr>
        </p:nvGraphicFramePr>
        <p:xfrm>
          <a:off x="3550508" y="2326205"/>
          <a:ext cx="3682314" cy="647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235"/>
                <a:gridCol w="2221079"/>
              </a:tblGrid>
              <a:tr h="323955">
                <a:tc rowSpan="2">
                  <a:txBody>
                    <a:bodyPr/>
                    <a:lstStyle/>
                    <a:p>
                      <a:pPr algn="ctr"/>
                      <a:r>
                        <a:rPr lang="en-US" sz="1500" b="0" dirty="0" smtClean="0">
                          <a:solidFill>
                            <a:srgbClr val="000066"/>
                          </a:solidFill>
                        </a:rPr>
                        <a:t>Coverage =</a:t>
                      </a:r>
                      <a:endParaRPr lang="en-US" sz="1500" b="0" dirty="0">
                        <a:solidFill>
                          <a:srgbClr val="000066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smtClean="0">
                          <a:solidFill>
                            <a:srgbClr val="000066"/>
                          </a:solidFill>
                        </a:rPr>
                        <a:t># of tests executed</a:t>
                      </a:r>
                      <a:endParaRPr lang="en-US" sz="1500" b="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395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 smtClean="0">
                          <a:solidFill>
                            <a:srgbClr val="000066"/>
                          </a:solidFill>
                        </a:rPr>
                        <a:t>Total # of tests</a:t>
                      </a:r>
                      <a:endParaRPr lang="en-US" sz="1500" b="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70745" y="4865615"/>
            <a:ext cx="2969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How much Testing is enough?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70745" y="5489101"/>
            <a:ext cx="2713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66"/>
                </a:solidFill>
              </a:rPr>
              <a:t>When will we stop testing?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39" y="4832901"/>
            <a:ext cx="1716106" cy="94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3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1" grpId="0"/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1024128" y="1371600"/>
            <a:ext cx="4529328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548640" marR="0" lvl="0" indent="-548640" algn="l" defTabSz="914400" rtl="0" eaLnBrk="0" fontAlgn="base" latin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EB2915"/>
              </a:buClr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EB2915"/>
              </a:buClr>
            </a:pPr>
            <a:r>
              <a:rPr lang="en-US" sz="2000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 ea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EB2915"/>
              </a:buClr>
            </a:pPr>
            <a:r>
              <a:rPr lang="en-US" sz="2000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858256" y="1371600"/>
            <a:ext cx="564715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R="0" lvl="0" indent="-548640" defTabSz="914400" rtl="0" eaLnBrk="0" fontAlgn="base" latin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EB2915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indent="-274320" algn="l" ea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EB2915"/>
              </a:buClr>
              <a:buFontTx/>
              <a:buChar char="•"/>
            </a:pPr>
            <a:endParaRPr lang="en-US" sz="2000" kern="0" dirty="0" smtClean="0">
              <a:solidFill>
                <a:srgbClr val="00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EB2915"/>
              </a:buClr>
            </a:pPr>
            <a:endParaRPr lang="en-US" sz="2000" kern="0" dirty="0" smtClean="0">
              <a:solidFill>
                <a:srgbClr val="00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 bwMode="auto">
          <a:xfrm rot="5400000">
            <a:off x="3762756" y="4076700"/>
            <a:ext cx="3886200" cy="158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itle 1"/>
          <p:cNvSpPr txBox="1">
            <a:spLocks/>
          </p:cNvSpPr>
          <p:nvPr/>
        </p:nvSpPr>
        <p:spPr>
          <a:xfrm>
            <a:off x="714632" y="70881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/>
              <a:t>Manual Testing And Automation Testing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99883" y="2327831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Manual Testing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40824" y="2327831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Automated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Testing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99883" y="2904469"/>
            <a:ext cx="43268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Performed by </a:t>
            </a:r>
            <a:r>
              <a:rPr lang="en-US" b="1" i="1" kern="0" dirty="0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carrying out all the </a:t>
            </a:r>
          </a:p>
          <a:p>
            <a:r>
              <a:rPr lang="en-US" b="1" i="1" kern="0" dirty="0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 manually</a:t>
            </a:r>
            <a:r>
              <a:rPr lang="en-US" kern="0" dirty="0" smtClean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by step, and </a:t>
            </a:r>
          </a:p>
          <a:p>
            <a:r>
              <a:rPr lang="en-US" b="1" i="1" kern="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revealing</a:t>
            </a:r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whether a particular step was </a:t>
            </a:r>
          </a:p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successfully or  failing.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99883" y="4402415"/>
            <a:ext cx="41472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a part of any testing effort. It is </a:t>
            </a:r>
          </a:p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especially useful in the initial phase of </a:t>
            </a:r>
          </a:p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development.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62" y="2904469"/>
            <a:ext cx="708818" cy="70881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95" y="4385584"/>
            <a:ext cx="708818" cy="7088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12545" y="2990613"/>
            <a:ext cx="5198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kern="0" dirty="0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of software to control</a:t>
            </a:r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kern="0" dirty="0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execution</a:t>
            </a:r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tests, and the </a:t>
            </a:r>
            <a:r>
              <a:rPr lang="en-US" b="1" i="1" kern="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actual outcomes</a:t>
            </a:r>
          </a:p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the expected (specified) outcomes.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727" y="2904469"/>
            <a:ext cx="708818" cy="7088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00963" y="4316176"/>
            <a:ext cx="49936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Commonly, it involves automating a manual </a:t>
            </a:r>
          </a:p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already in place that uses a formalized</a:t>
            </a:r>
          </a:p>
          <a:p>
            <a:r>
              <a:rPr lang="en-US" kern="0" dirty="0" smtClean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testing process.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256" y="4385584"/>
            <a:ext cx="708818" cy="70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2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5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66382" y="2570206"/>
            <a:ext cx="5636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 should choose Manual Testing or Automation Testing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276" y="2347252"/>
            <a:ext cx="1716106" cy="94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8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237" y="1795849"/>
            <a:ext cx="3791324" cy="4580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71784" y="683741"/>
            <a:ext cx="337175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 smtClean="0"/>
              <a:t>Thanks for your listening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24526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1118</Words>
  <Application>Microsoft Office PowerPoint</Application>
  <PresentationFormat>Widescreen</PresentationFormat>
  <Paragraphs>152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Principle of Software Testing</vt:lpstr>
      <vt:lpstr>Agenda</vt:lpstr>
      <vt:lpstr>Software Development Lifecycles and Testing</vt:lpstr>
      <vt:lpstr>Software Development Lifecycles and Testing</vt:lpstr>
      <vt:lpstr>Waterfall Model</vt:lpstr>
      <vt:lpstr>PowerPoint Presentation</vt:lpstr>
      <vt:lpstr>PowerPoint Presentation</vt:lpstr>
      <vt:lpstr>PowerPoint Presentation</vt:lpstr>
      <vt:lpstr>Software Testing Overview</vt:lpstr>
      <vt:lpstr>Testers responsibility </vt:lpstr>
      <vt:lpstr>Objectives of Testing </vt:lpstr>
      <vt:lpstr>PowerPoint Presentation</vt:lpstr>
      <vt:lpstr>PowerPoint Presentation</vt:lpstr>
      <vt:lpstr>Basic Testing Terminologies </vt:lpstr>
      <vt:lpstr>Test Coverage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 of Software Testing</dc:title>
  <dc:creator>Nguyen Thu Ha (FSU1.BU26)</dc:creator>
  <cp:lastModifiedBy>Nguyen Thu Ha (FSU1.BU26)</cp:lastModifiedBy>
  <cp:revision>102</cp:revision>
  <dcterms:created xsi:type="dcterms:W3CDTF">2018-01-15T07:01:40Z</dcterms:created>
  <dcterms:modified xsi:type="dcterms:W3CDTF">2018-01-25T02:25:08Z</dcterms:modified>
</cp:coreProperties>
</file>